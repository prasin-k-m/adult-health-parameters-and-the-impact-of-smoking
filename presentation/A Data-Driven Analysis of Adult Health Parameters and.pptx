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6" r:id="rId15"/>
    <p:sldId id="278" r:id="rId16"/>
    <p:sldId id="279" r:id="rId17"/>
    <p:sldId id="280" r:id="rId18"/>
    <p:sldId id="281" r:id="rId19"/>
    <p:sldId id="282" r:id="rId20"/>
    <p:sldId id="283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F8AA0-C2E5-4F2D-A7BB-A782B08177A9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890C-325F-4EA0-85D6-E1DAFFA039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7680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F8AA0-C2E5-4F2D-A7BB-A782B08177A9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890C-325F-4EA0-85D6-E1DAFFA039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340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F8AA0-C2E5-4F2D-A7BB-A782B08177A9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890C-325F-4EA0-85D6-E1DAFFA039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0007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F8AA0-C2E5-4F2D-A7BB-A782B08177A9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890C-325F-4EA0-85D6-E1DAFFA039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9429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F8AA0-C2E5-4F2D-A7BB-A782B08177A9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890C-325F-4EA0-85D6-E1DAFFA039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506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F8AA0-C2E5-4F2D-A7BB-A782B08177A9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890C-325F-4EA0-85D6-E1DAFFA039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586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F8AA0-C2E5-4F2D-A7BB-A782B08177A9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890C-325F-4EA0-85D6-E1DAFFA039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662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F8AA0-C2E5-4F2D-A7BB-A782B08177A9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890C-325F-4EA0-85D6-E1DAFFA039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8485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F8AA0-C2E5-4F2D-A7BB-A782B08177A9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890C-325F-4EA0-85D6-E1DAFFA039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922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F8AA0-C2E5-4F2D-A7BB-A782B08177A9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890C-325F-4EA0-85D6-E1DAFFA039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1379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F8AA0-C2E5-4F2D-A7BB-A782B08177A9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890C-325F-4EA0-85D6-E1DAFFA039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83752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F8AA0-C2E5-4F2D-A7BB-A782B08177A9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890C-325F-4EA0-85D6-E1DAFFA03927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186003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F8AA0-C2E5-4F2D-A7BB-A782B08177A9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890C-325F-4EA0-85D6-E1DAFFA039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88535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F8AA0-C2E5-4F2D-A7BB-A782B08177A9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890C-325F-4EA0-85D6-E1DAFFA039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77174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F8AA0-C2E5-4F2D-A7BB-A782B08177A9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890C-325F-4EA0-85D6-E1DAFFA039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05844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F8AA0-C2E5-4F2D-A7BB-A782B08177A9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890C-325F-4EA0-85D6-E1DAFFA039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28087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F8AA0-C2E5-4F2D-A7BB-A782B08177A9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890C-325F-4EA0-85D6-E1DAFFA039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5520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2A6F8AA0-C2E5-4F2D-A7BB-A782B08177A9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8B890C-325F-4EA0-85D6-E1DAFFA039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16652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2,100+ Human Heart Rate Chart Stock Photos, Pictures ...">
            <a:extLst>
              <a:ext uri="{FF2B5EF4-FFF2-40B4-BE49-F238E27FC236}">
                <a16:creationId xmlns:a16="http://schemas.microsoft.com/office/drawing/2014/main" id="{3D0BBB5F-F11F-5A60-0079-E39C357863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1D53C61-2E5A-7C19-C71D-1BCA4F502E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489" y="1179871"/>
            <a:ext cx="12192001" cy="209591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FF00"/>
                </a:solidFill>
              </a:rPr>
              <a:t>A Data-Driven Analysis of Adult Health Parameters and the Impact of Smoking</a:t>
            </a:r>
            <a:endParaRPr lang="en-IN" dirty="0">
              <a:solidFill>
                <a:srgbClr val="FFFF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A526A1-C6B3-1745-EDF4-0584A50AA0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99" y="5705987"/>
            <a:ext cx="5938684" cy="1068438"/>
          </a:xfrm>
        </p:spPr>
        <p:txBody>
          <a:bodyPr/>
          <a:lstStyle/>
          <a:p>
            <a:r>
              <a:rPr lang="en-IN" dirty="0">
                <a:solidFill>
                  <a:srgbClr val="FFFF00"/>
                </a:solidFill>
              </a:rPr>
              <a:t>PRASIN K M</a:t>
            </a:r>
          </a:p>
          <a:p>
            <a:r>
              <a:rPr lang="en-IN" dirty="0">
                <a:solidFill>
                  <a:srgbClr val="FFFF00"/>
                </a:solidFill>
              </a:rPr>
              <a:t>Luminar </a:t>
            </a:r>
            <a:r>
              <a:rPr lang="en-IN" dirty="0" err="1">
                <a:solidFill>
                  <a:srgbClr val="FFFF00"/>
                </a:solidFill>
              </a:rPr>
              <a:t>Technolab</a:t>
            </a:r>
            <a:r>
              <a:rPr lang="en-IN" dirty="0">
                <a:solidFill>
                  <a:srgbClr val="FFFF00"/>
                </a:solidFill>
              </a:rPr>
              <a:t> – Data Science Intern</a:t>
            </a:r>
          </a:p>
        </p:txBody>
      </p:sp>
    </p:spTree>
    <p:extLst>
      <p:ext uri="{BB962C8B-B14F-4D97-AF65-F5344CB8AC3E}">
        <p14:creationId xmlns:p14="http://schemas.microsoft.com/office/powerpoint/2010/main" val="7692584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61957-886E-EED9-FBAF-680AC3E5D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this study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04FA1-1E28-2F1D-273B-FBC5C93A3E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Lifestyle diseases are rising due to poor habits such as smoking and lack of physical activity.</a:t>
            </a:r>
          </a:p>
          <a:p>
            <a:r>
              <a:rPr lang="en-US" dirty="0"/>
              <a:t>Key health parameters (BMI, Blood Pressure, Cholesterol, etc.) reflect overall wellness.</a:t>
            </a:r>
          </a:p>
          <a:p>
            <a:r>
              <a:rPr lang="en-US" dirty="0"/>
              <a:t>This study analyzes real data to evaluate adult health and assess how smoking affects vital metrics.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18978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CFDA9-8321-5344-10B6-71F0150F1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Objective: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4D2F7-75A1-95EF-32B4-83CC804C02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compare adult health parameters with standard medical ranges and examine the influence of smoking.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1461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A657B-7B47-A287-FF7E-34CEC8401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Dataset Description: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B1629-6874-AEEC-0B74-D8C0D7D128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Total Records: 52855 </a:t>
            </a:r>
            <a:r>
              <a:rPr lang="en-IN" i="1" dirty="0"/>
              <a:t>adults</a:t>
            </a:r>
            <a:endParaRPr lang="en-IN" dirty="0"/>
          </a:p>
          <a:p>
            <a:r>
              <a:rPr lang="en-IN" dirty="0"/>
              <a:t>Columns: Age, Gender, Height, Weight, BMI, Temperature, Heart Rate, Blood Pressure, Cholesterol, Diabetes, Smoking</a:t>
            </a:r>
          </a:p>
          <a:p>
            <a:r>
              <a:rPr lang="en-IN" dirty="0"/>
              <a:t>Age group: 18 - 34</a:t>
            </a:r>
          </a:p>
          <a:p>
            <a:r>
              <a:rPr lang="en-IN" dirty="0"/>
              <a:t>Smoking: 1 → Smoker, 2 → Non-Smoker</a:t>
            </a:r>
          </a:p>
          <a:p>
            <a:endParaRPr lang="en-IN" b="1" dirty="0"/>
          </a:p>
          <a:p>
            <a:pPr marL="0" indent="0">
              <a:buNone/>
            </a:pPr>
            <a:r>
              <a:rPr lang="en-IN" b="1" dirty="0"/>
              <a:t>Purpose:</a:t>
            </a:r>
            <a:endParaRPr lang="en-IN" dirty="0"/>
          </a:p>
          <a:p>
            <a:r>
              <a:rPr lang="en-IN" dirty="0"/>
              <a:t>To evaluate physical health performance based on these metrics and compare smoking vs non-smoking patterns.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6845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4A641-EAD5-0408-135F-4A7EDF469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 Preparation Steps: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EFA040-1904-F6D5-359D-8BDE7377C5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Cleaned missing or invalid values.</a:t>
            </a:r>
          </a:p>
          <a:p>
            <a:r>
              <a:rPr lang="en-US" dirty="0"/>
              <a:t>Segment participants according to their needs</a:t>
            </a:r>
            <a:r>
              <a:rPr lang="en-IN" dirty="0"/>
              <a:t>.</a:t>
            </a:r>
          </a:p>
          <a:p>
            <a:r>
              <a:rPr lang="en-IN" dirty="0"/>
              <a:t>Visualized trends using Python libraries (NumPy, Pandas, Matplotlib, Seaborn).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Analytical Focus:</a:t>
            </a:r>
            <a:endParaRPr lang="en-IN" dirty="0"/>
          </a:p>
          <a:p>
            <a:r>
              <a:rPr lang="en-IN" dirty="0"/>
              <a:t>Compare each health metric to standard adult ranges.</a:t>
            </a:r>
          </a:p>
          <a:p>
            <a:r>
              <a:rPr lang="en-IN" dirty="0"/>
              <a:t>Evaluate smoking influence across multiple variables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2984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F02FF-6A99-2DCE-26D9-1F4C43715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9617" y="-117987"/>
            <a:ext cx="10126054" cy="1022555"/>
          </a:xfrm>
        </p:spPr>
        <p:txBody>
          <a:bodyPr/>
          <a:lstStyle/>
          <a:p>
            <a:r>
              <a:rPr lang="en-US" dirty="0"/>
              <a:t>Comparison with Standard Adult Ranges: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65D581E-B155-F948-786B-275DF42B06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997" y="580103"/>
            <a:ext cx="11336006" cy="6171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409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EC2BA29-4FBC-0327-2434-3E0791557E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469"/>
            <a:ext cx="12192000" cy="6743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266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914B7FD-07F2-AD31-74CC-FDE4CB7532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981" y="16484"/>
            <a:ext cx="11866629" cy="6841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0159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900D8A-AE41-1B71-B194-08FA488E9A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559" y="53690"/>
            <a:ext cx="11961261" cy="6804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6463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4EE344-F72E-57C3-E90C-6409D96DE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120" y="101890"/>
            <a:ext cx="11718490" cy="6756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7392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8987910-6080-2F78-E5B8-85B386B147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7653920"/>
              </p:ext>
            </p:extLst>
          </p:nvPr>
        </p:nvGraphicFramePr>
        <p:xfrm>
          <a:off x="386080" y="481782"/>
          <a:ext cx="11419840" cy="6297177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854960">
                  <a:extLst>
                    <a:ext uri="{9D8B030D-6E8A-4147-A177-3AD203B41FA5}">
                      <a16:colId xmlns:a16="http://schemas.microsoft.com/office/drawing/2014/main" val="4149116524"/>
                    </a:ext>
                  </a:extLst>
                </a:gridCol>
                <a:gridCol w="2854960">
                  <a:extLst>
                    <a:ext uri="{9D8B030D-6E8A-4147-A177-3AD203B41FA5}">
                      <a16:colId xmlns:a16="http://schemas.microsoft.com/office/drawing/2014/main" val="187867414"/>
                    </a:ext>
                  </a:extLst>
                </a:gridCol>
                <a:gridCol w="2854960">
                  <a:extLst>
                    <a:ext uri="{9D8B030D-6E8A-4147-A177-3AD203B41FA5}">
                      <a16:colId xmlns:a16="http://schemas.microsoft.com/office/drawing/2014/main" val="261594334"/>
                    </a:ext>
                  </a:extLst>
                </a:gridCol>
                <a:gridCol w="2854960">
                  <a:extLst>
                    <a:ext uri="{9D8B030D-6E8A-4147-A177-3AD203B41FA5}">
                      <a16:colId xmlns:a16="http://schemas.microsoft.com/office/drawing/2014/main" val="1600502033"/>
                    </a:ext>
                  </a:extLst>
                </a:gridCol>
              </a:tblGrid>
              <a:tr h="2494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Parameter</a:t>
                      </a:r>
                      <a:endParaRPr lang="en-IN" sz="1200"/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Standard Adult Range</a:t>
                      </a:r>
                      <a:endParaRPr lang="en-IN" sz="1200"/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Observation (from data)</a:t>
                      </a:r>
                      <a:endParaRPr lang="en-IN" sz="1200"/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Remarks / Insights</a:t>
                      </a:r>
                      <a:endParaRPr lang="en-IN" sz="1200"/>
                    </a:p>
                  </a:txBody>
                  <a:tcPr marL="63063" marR="63063" marT="31531" marB="31531" anchor="ctr"/>
                </a:tc>
                <a:extLst>
                  <a:ext uri="{0D108BD9-81ED-4DB2-BD59-A6C34878D82A}">
                    <a16:rowId xmlns:a16="http://schemas.microsoft.com/office/drawing/2014/main" val="3962071352"/>
                  </a:ext>
                </a:extLst>
              </a:tr>
              <a:tr h="12095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BMI (Body Mass Index)</a:t>
                      </a:r>
                      <a:endParaRPr lang="en-IN" sz="1200"/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18.5 – 24.9 (Normal)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r>
                        <a:rPr lang="de-DE" sz="1200" dirty="0"/>
                        <a:t>Underweight: </a:t>
                      </a:r>
                      <a:r>
                        <a:rPr lang="de-DE" sz="1200" b="1" dirty="0"/>
                        <a:t>28.5%</a:t>
                      </a:r>
                      <a:r>
                        <a:rPr lang="de-DE" sz="1200" dirty="0"/>
                        <a:t> 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de-DE" sz="1200" dirty="0"/>
                        <a:t>Normal: </a:t>
                      </a:r>
                      <a:r>
                        <a:rPr lang="de-DE" sz="1200" b="1" dirty="0"/>
                        <a:t>32.7%</a:t>
                      </a:r>
                      <a:r>
                        <a:rPr lang="de-DE" sz="1200" dirty="0"/>
                        <a:t> 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de-DE" sz="1200" dirty="0"/>
                        <a:t> Overweight: </a:t>
                      </a:r>
                      <a:r>
                        <a:rPr lang="de-DE" sz="1200" b="1" dirty="0"/>
                        <a:t>20.2%</a:t>
                      </a:r>
                      <a:r>
                        <a:rPr lang="de-DE" sz="1200" dirty="0"/>
                        <a:t> 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de-DE" sz="1200" dirty="0"/>
                        <a:t>Obese: </a:t>
                      </a:r>
                      <a:r>
                        <a:rPr lang="de-DE" sz="1200" b="1" dirty="0"/>
                        <a:t>18.6%</a:t>
                      </a:r>
                      <a:endParaRPr lang="de-DE" sz="1200" dirty="0"/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Nearly one-third normal. Slight right-skew shows overweight tendency in both genders.</a:t>
                      </a:r>
                    </a:p>
                  </a:txBody>
                  <a:tcPr marL="63063" marR="63063" marT="31531" marB="31531" anchor="ctr"/>
                </a:tc>
                <a:extLst>
                  <a:ext uri="{0D108BD9-81ED-4DB2-BD59-A6C34878D82A}">
                    <a16:rowId xmlns:a16="http://schemas.microsoft.com/office/drawing/2014/main" val="4028142255"/>
                  </a:ext>
                </a:extLst>
              </a:tr>
              <a:tr h="12095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Temperature (°F)</a:t>
                      </a:r>
                      <a:endParaRPr lang="en-IN" sz="1200"/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97.6 – 99.6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r>
                        <a:rPr lang="en-US" sz="1200" dirty="0"/>
                        <a:t>Normal: </a:t>
                      </a:r>
                      <a:r>
                        <a:rPr lang="en-US" sz="1200" b="1" dirty="0"/>
                        <a:t>95.5%</a:t>
                      </a:r>
                      <a:r>
                        <a:rPr lang="en-US" sz="1200" dirty="0"/>
                        <a:t> 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sz="1200" dirty="0"/>
                        <a:t>Below: </a:t>
                      </a:r>
                      <a:r>
                        <a:rPr lang="en-US" sz="1200" b="1" dirty="0"/>
                        <a:t>2.3%</a:t>
                      </a:r>
                      <a:r>
                        <a:rPr lang="en-US" sz="1200" dirty="0"/>
                        <a:t> -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sz="1200" dirty="0"/>
                        <a:t>Above: </a:t>
                      </a:r>
                      <a:r>
                        <a:rPr lang="en-US" sz="1200" b="1" dirty="0"/>
                        <a:t>2.3%</a:t>
                      </a:r>
                      <a:endParaRPr lang="en-US" sz="1200" dirty="0"/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Stable and symmetric distribution; indicates overall good body temperature regulation.</a:t>
                      </a:r>
                    </a:p>
                  </a:txBody>
                  <a:tcPr marL="63063" marR="63063" marT="31531" marB="31531" anchor="ctr"/>
                </a:tc>
                <a:extLst>
                  <a:ext uri="{0D108BD9-81ED-4DB2-BD59-A6C34878D82A}">
                    <a16:rowId xmlns:a16="http://schemas.microsoft.com/office/drawing/2014/main" val="1334943464"/>
                  </a:ext>
                </a:extLst>
              </a:tr>
              <a:tr h="12095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Heart Rate (bpm)</a:t>
                      </a:r>
                      <a:endParaRPr lang="en-IN" sz="1200"/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60 – 100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r>
                        <a:rPr lang="en-US" sz="1200" dirty="0"/>
                        <a:t>Normal: </a:t>
                      </a:r>
                      <a:r>
                        <a:rPr lang="en-US" sz="1200" b="1" dirty="0"/>
                        <a:t>100%</a:t>
                      </a:r>
                      <a:r>
                        <a:rPr lang="en-US" sz="1200" dirty="0"/>
                        <a:t> 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sz="1200" dirty="0"/>
                        <a:t> Below/Above: </a:t>
                      </a:r>
                      <a:r>
                        <a:rPr lang="en-US" sz="1200" b="1" dirty="0"/>
                        <a:t>0%</a:t>
                      </a:r>
                      <a:endParaRPr lang="en-US" sz="1200" dirty="0"/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All participants within healthy heart rate range — strong cardiovascular indicator.</a:t>
                      </a:r>
                    </a:p>
                  </a:txBody>
                  <a:tcPr marL="63063" marR="63063" marT="31531" marB="31531" anchor="ctr"/>
                </a:tc>
                <a:extLst>
                  <a:ext uri="{0D108BD9-81ED-4DB2-BD59-A6C34878D82A}">
                    <a16:rowId xmlns:a16="http://schemas.microsoft.com/office/drawing/2014/main" val="3375958872"/>
                  </a:ext>
                </a:extLst>
              </a:tr>
              <a:tr h="12095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Blood Pressure (mmHg)</a:t>
                      </a:r>
                      <a:endParaRPr lang="en-IN" sz="1200"/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&lt;120 (Healthy) </a:t>
                      </a:r>
                    </a:p>
                    <a:p>
                      <a:pPr>
                        <a:buNone/>
                      </a:pPr>
                      <a:r>
                        <a:rPr lang="en-US" sz="1200" dirty="0"/>
                        <a:t>120–129 (Elevated) </a:t>
                      </a:r>
                    </a:p>
                    <a:p>
                      <a:pPr>
                        <a:buNone/>
                      </a:pPr>
                      <a:r>
                        <a:rPr lang="en-US" sz="1200" dirty="0"/>
                        <a:t>130–139 (Stage 1 Hypertension)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r>
                        <a:rPr lang="en-US" sz="1200" dirty="0"/>
                        <a:t>Healthy: </a:t>
                      </a:r>
                      <a:r>
                        <a:rPr lang="en-US" sz="1200" b="1" dirty="0"/>
                        <a:t>60.2%</a:t>
                      </a:r>
                      <a:r>
                        <a:rPr lang="en-US" sz="1200" dirty="0"/>
                        <a:t> 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sz="1200" dirty="0"/>
                        <a:t> Elevated: </a:t>
                      </a:r>
                      <a:r>
                        <a:rPr lang="en-US" sz="1200" b="1" dirty="0"/>
                        <a:t>20.0%</a:t>
                      </a:r>
                      <a:r>
                        <a:rPr lang="en-US" sz="1200" dirty="0"/>
                        <a:t> 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sz="1200" dirty="0"/>
                        <a:t> Stage 1: </a:t>
                      </a:r>
                      <a:r>
                        <a:rPr lang="en-US" sz="1200" b="1" dirty="0"/>
                        <a:t>19.8%</a:t>
                      </a:r>
                      <a:r>
                        <a:rPr lang="en-US" sz="1200" dirty="0"/>
                        <a:t> 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sz="1200" dirty="0"/>
                        <a:t>Stage 2: </a:t>
                      </a:r>
                      <a:r>
                        <a:rPr lang="en-US" sz="1200" b="1" dirty="0"/>
                        <a:t>0%</a:t>
                      </a:r>
                      <a:endParaRPr lang="en-US" sz="1200" dirty="0"/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Most adults are healthy, but nearly 40% show early signs of hypertension risk.</a:t>
                      </a:r>
                    </a:p>
                  </a:txBody>
                  <a:tcPr marL="63063" marR="63063" marT="31531" marB="31531" anchor="ctr"/>
                </a:tc>
                <a:extLst>
                  <a:ext uri="{0D108BD9-81ED-4DB2-BD59-A6C34878D82A}">
                    <a16:rowId xmlns:a16="http://schemas.microsoft.com/office/drawing/2014/main" val="2485284058"/>
                  </a:ext>
                </a:extLst>
              </a:tr>
              <a:tr h="12095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Cholesterol (mg/dL)</a:t>
                      </a:r>
                      <a:endParaRPr lang="en-IN" sz="1200"/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&lt;200 (Healthy)</a:t>
                      </a:r>
                    </a:p>
                    <a:p>
                      <a:pPr>
                        <a:buNone/>
                      </a:pPr>
                      <a:r>
                        <a:rPr lang="en-US" sz="1200" dirty="0"/>
                        <a:t> 200–239 (At-Risk) </a:t>
                      </a:r>
                    </a:p>
                    <a:p>
                      <a:pPr>
                        <a:buNone/>
                      </a:pPr>
                      <a:r>
                        <a:rPr lang="en-US" sz="1200" dirty="0"/>
                        <a:t>≥240 (Dangerous)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r>
                        <a:rPr lang="en-US" sz="1200" dirty="0"/>
                        <a:t>Healthy: </a:t>
                      </a:r>
                      <a:r>
                        <a:rPr lang="en-US" sz="1200" b="1" dirty="0"/>
                        <a:t>61.7%</a:t>
                      </a:r>
                      <a:r>
                        <a:rPr lang="en-US" sz="1200" dirty="0"/>
                        <a:t> 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sz="1200" dirty="0"/>
                        <a:t> At-Risk: </a:t>
                      </a:r>
                      <a:r>
                        <a:rPr lang="en-US" sz="1200" b="1" dirty="0"/>
                        <a:t>30.4%</a:t>
                      </a:r>
                      <a:r>
                        <a:rPr lang="en-US" sz="1200" dirty="0"/>
                        <a:t> 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sz="1200" dirty="0"/>
                        <a:t>Dangerous: </a:t>
                      </a:r>
                      <a:r>
                        <a:rPr lang="en-US" sz="1200" b="1" dirty="0"/>
                        <a:t>7.8%</a:t>
                      </a:r>
                      <a:endParaRPr lang="en-US" sz="1200" dirty="0"/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Cholesterol levels trending high — possible link to lifestyle factors like smoking or diet.</a:t>
                      </a:r>
                    </a:p>
                  </a:txBody>
                  <a:tcPr marL="63063" marR="63063" marT="31531" marB="31531" anchor="ctr"/>
                </a:tc>
                <a:extLst>
                  <a:ext uri="{0D108BD9-81ED-4DB2-BD59-A6C34878D82A}">
                    <a16:rowId xmlns:a16="http://schemas.microsoft.com/office/drawing/2014/main" val="13173215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13583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975BBD9-2570-F30C-252A-16163BF653D7}"/>
              </a:ext>
            </a:extLst>
          </p:cNvPr>
          <p:cNvSpPr txBox="1"/>
          <p:nvPr/>
        </p:nvSpPr>
        <p:spPr>
          <a:xfrm>
            <a:off x="796413" y="5368412"/>
            <a:ext cx="107564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presence of diabetes in younger adults (18–34) highlights early lifestyle-related health issues, likely influenced by BMI, cholesterol, and smoking behavior. Preventive health measures and screening should begin early in adulthood.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B50B34-A32D-14A7-1F16-07549CA343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098" y="279298"/>
            <a:ext cx="10422192" cy="5089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5345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713E5BD-D5B3-5421-7FEE-93CB2A421F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6841"/>
            <a:ext cx="12192000" cy="42335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96116FE-924A-D517-E964-244A628FA65E}"/>
              </a:ext>
            </a:extLst>
          </p:cNvPr>
          <p:cNvSpPr txBox="1"/>
          <p:nvPr/>
        </p:nvSpPr>
        <p:spPr>
          <a:xfrm>
            <a:off x="4159045" y="0"/>
            <a:ext cx="4817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Smoking vs Non-Smoking Analysis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3EB43E9-023C-B55A-76B0-CDF9467980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1282504"/>
              </p:ext>
            </p:extLst>
          </p:nvPr>
        </p:nvGraphicFramePr>
        <p:xfrm>
          <a:off x="0" y="4690345"/>
          <a:ext cx="121920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2658">
                  <a:extLst>
                    <a:ext uri="{9D8B030D-6E8A-4147-A177-3AD203B41FA5}">
                      <a16:colId xmlns:a16="http://schemas.microsoft.com/office/drawing/2014/main" val="189952474"/>
                    </a:ext>
                  </a:extLst>
                </a:gridCol>
                <a:gridCol w="10589342">
                  <a:extLst>
                    <a:ext uri="{9D8B030D-6E8A-4147-A177-3AD203B41FA5}">
                      <a16:colId xmlns:a16="http://schemas.microsoft.com/office/drawing/2014/main" val="15818234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dirty="0"/>
                        <a:t>Observation Area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dirty="0"/>
                        <a:t>Insight</a:t>
                      </a:r>
                      <a:endParaRPr lang="en-IN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7463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b="1" dirty="0"/>
                        <a:t> Observation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 </a:t>
                      </a:r>
                      <a:r>
                        <a:rPr lang="en-US" sz="1600" b="1" dirty="0"/>
                        <a:t>Smoking individuals show a slightly higher diabetes incidence rate</a:t>
                      </a:r>
                      <a:r>
                        <a:rPr lang="en-US" sz="1600" dirty="0"/>
                        <a:t> compared to non-smokers. - The difference is not drastic but consistent across most age groups, indicating smoking as a </a:t>
                      </a:r>
                      <a:r>
                        <a:rPr lang="en-US" sz="1600" b="1" dirty="0"/>
                        <a:t>contributing risk factor</a:t>
                      </a:r>
                      <a:r>
                        <a:rPr lang="en-US" sz="1600" dirty="0"/>
                        <a:t> for diabetes onset</a:t>
                      </a:r>
                      <a:r>
                        <a:rPr lang="en-US" sz="1800" dirty="0"/>
                        <a:t>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1525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b="1" dirty="0"/>
                        <a:t>Health Implication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 While diabetes is present in both groups, smoking clearly correlates with a </a:t>
                      </a:r>
                      <a:r>
                        <a:rPr lang="en-US" sz="1600" b="1" dirty="0"/>
                        <a:t>higher proportional risk</a:t>
                      </a:r>
                      <a:r>
                        <a:rPr lang="en-US" sz="1600" dirty="0"/>
                        <a:t>. - This supports medical research that smoking can impair insulin sensitivity and increase Type-2 diabetes risk.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13510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40011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82DE03-5A54-50E4-2FA5-7B608415A4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1371"/>
            <a:ext cx="12192000" cy="4233504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5105C90-D2F8-773E-218B-D37110D880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7448543"/>
              </p:ext>
            </p:extLst>
          </p:nvPr>
        </p:nvGraphicFramePr>
        <p:xfrm>
          <a:off x="304800" y="4552694"/>
          <a:ext cx="11582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6452">
                  <a:extLst>
                    <a:ext uri="{9D8B030D-6E8A-4147-A177-3AD203B41FA5}">
                      <a16:colId xmlns:a16="http://schemas.microsoft.com/office/drawing/2014/main" val="2195027950"/>
                    </a:ext>
                  </a:extLst>
                </a:gridCol>
                <a:gridCol w="9615948">
                  <a:extLst>
                    <a:ext uri="{9D8B030D-6E8A-4147-A177-3AD203B41FA5}">
                      <a16:colId xmlns:a16="http://schemas.microsoft.com/office/drawing/2014/main" val="1007575304"/>
                    </a:ext>
                  </a:extLst>
                </a:gridCol>
              </a:tblGrid>
              <a:tr h="46358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dirty="0"/>
                        <a:t>Observation Area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dirty="0"/>
                        <a:t>Insight</a:t>
                      </a:r>
                      <a:endParaRPr lang="en-IN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8308471"/>
                  </a:ext>
                </a:extLst>
              </a:tr>
              <a:tr h="762062">
                <a:tc>
                  <a:txBody>
                    <a:bodyPr/>
                    <a:lstStyle/>
                    <a:p>
                      <a:r>
                        <a:rPr lang="en-IN" sz="1600" b="1" dirty="0"/>
                        <a:t> Comparison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 For </a:t>
                      </a:r>
                      <a:r>
                        <a:rPr lang="en-US" sz="1600" b="1" dirty="0"/>
                        <a:t>non-smokers</a:t>
                      </a:r>
                      <a:r>
                        <a:rPr lang="en-US" sz="1600" dirty="0"/>
                        <a:t>, only about </a:t>
                      </a:r>
                      <a:r>
                        <a:rPr lang="en-US" sz="1600" b="1" dirty="0"/>
                        <a:t>10%</a:t>
                      </a:r>
                      <a:r>
                        <a:rPr lang="en-US" sz="1600" dirty="0"/>
                        <a:t> have dangerous cholesterol.  For </a:t>
                      </a:r>
                      <a:r>
                        <a:rPr lang="en-US" sz="1600" b="1" dirty="0"/>
                        <a:t>smokers</a:t>
                      </a:r>
                      <a:r>
                        <a:rPr lang="en-US" sz="1600" dirty="0"/>
                        <a:t>, this rises to </a:t>
                      </a:r>
                      <a:r>
                        <a:rPr lang="en-US" sz="1600" b="1" dirty="0"/>
                        <a:t>6–9%</a:t>
                      </a:r>
                      <a:r>
                        <a:rPr lang="en-US" sz="1600" dirty="0"/>
                        <a:t>, even though their group size is smaller — showing a </a:t>
                      </a:r>
                      <a:r>
                        <a:rPr lang="en-US" sz="1600" b="1" dirty="0"/>
                        <a:t>stronger impact of smoking</a:t>
                      </a:r>
                      <a:r>
                        <a:rPr lang="en-US" sz="1600" dirty="0"/>
                        <a:t> on cholesterol imbalance.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6709218"/>
                  </a:ext>
                </a:extLst>
              </a:tr>
              <a:tr h="463588">
                <a:tc>
                  <a:txBody>
                    <a:bodyPr/>
                    <a:lstStyle/>
                    <a:p>
                      <a:r>
                        <a:rPr lang="en-IN" sz="1600" b="1" dirty="0"/>
                        <a:t>Health Implication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Smoking significantly contributes to </a:t>
                      </a:r>
                      <a:r>
                        <a:rPr lang="en-US" sz="1600" b="1" dirty="0"/>
                        <a:t>higher cholesterol risk</a:t>
                      </a:r>
                      <a:r>
                        <a:rPr lang="en-US" sz="1600" dirty="0"/>
                        <a:t> (both at-risk and dangerous categories). - Non-smokers maintain better lipid health overall, but even they show a </a:t>
                      </a:r>
                      <a:r>
                        <a:rPr lang="en-US" sz="1600" b="1" dirty="0"/>
                        <a:t>notable percentage</a:t>
                      </a:r>
                      <a:r>
                        <a:rPr lang="en-US" sz="1600" dirty="0"/>
                        <a:t> of elevated cholesterol, indicating diet or BMI may also play a role.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0845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11672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CC5440-A716-5148-114C-1D2C071531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2713"/>
            <a:ext cx="12192000" cy="4233504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4B648E1-A7EE-EFAB-778D-496C8DE76C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7834810"/>
              </p:ext>
            </p:extLst>
          </p:nvPr>
        </p:nvGraphicFramePr>
        <p:xfrm>
          <a:off x="0" y="4611688"/>
          <a:ext cx="12192000" cy="2016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0853">
                  <a:extLst>
                    <a:ext uri="{9D8B030D-6E8A-4147-A177-3AD203B41FA5}">
                      <a16:colId xmlns:a16="http://schemas.microsoft.com/office/drawing/2014/main" val="1651902336"/>
                    </a:ext>
                  </a:extLst>
                </a:gridCol>
                <a:gridCol w="10011147">
                  <a:extLst>
                    <a:ext uri="{9D8B030D-6E8A-4147-A177-3AD203B41FA5}">
                      <a16:colId xmlns:a16="http://schemas.microsoft.com/office/drawing/2014/main" val="20659285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Observation Area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Insight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61652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dirty="0"/>
                        <a:t>Comparison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Non-smokers:</a:t>
                      </a:r>
                      <a:r>
                        <a:rPr lang="en-US" sz="1600" dirty="0"/>
                        <a:t> roughly 35–40% have some BP elevation. 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- </a:t>
                      </a:r>
                      <a:r>
                        <a:rPr lang="en-US" sz="1600" b="1" dirty="0"/>
                        <a:t>Smokers:</a:t>
                      </a:r>
                      <a:r>
                        <a:rPr lang="en-US" sz="1600" dirty="0"/>
                        <a:t> roughly </a:t>
                      </a:r>
                      <a:r>
                        <a:rPr lang="en-US" sz="1600" b="1" dirty="0"/>
                        <a:t>45–50%</a:t>
                      </a:r>
                      <a:r>
                        <a:rPr lang="en-US" sz="1600" dirty="0"/>
                        <a:t> show elevated or hypertensive readings — clearly higher proportionally. 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- Indicates a </a:t>
                      </a:r>
                      <a:r>
                        <a:rPr lang="en-US" sz="1600" b="1" dirty="0"/>
                        <a:t>consistent link between smoking and higher blood pressure</a:t>
                      </a:r>
                      <a:r>
                        <a:rPr lang="en-US" sz="1600" dirty="0"/>
                        <a:t>.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18229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dirty="0"/>
                        <a:t>Health Implications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Smoking significantly contributes to </a:t>
                      </a:r>
                      <a:r>
                        <a:rPr lang="en-US" sz="1600" b="1" dirty="0"/>
                        <a:t>higher risk of hypertension</a:t>
                      </a:r>
                      <a:r>
                        <a:rPr lang="en-US" sz="1600" dirty="0"/>
                        <a:t>, even in young adults (18–34). 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- The difference between smokers and non-smokers is visible despite the smaller smoker population, suggesting a </a:t>
                      </a:r>
                      <a:r>
                        <a:rPr lang="en-US" sz="1600" b="1" dirty="0"/>
                        <a:t>direct physiological impact of nicotine</a:t>
                      </a:r>
                      <a:r>
                        <a:rPr lang="en-US" sz="1600" dirty="0"/>
                        <a:t> on BP levels.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9542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0106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E27D92-D2BE-A7A0-1B86-2B957D53DE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651"/>
            <a:ext cx="12192000" cy="4233504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3DAEBDD-173B-1D78-C13B-47CFAE0F5D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1847892"/>
              </p:ext>
            </p:extLst>
          </p:nvPr>
        </p:nvGraphicFramePr>
        <p:xfrm>
          <a:off x="0" y="4524749"/>
          <a:ext cx="12192000" cy="226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2559">
                  <a:extLst>
                    <a:ext uri="{9D8B030D-6E8A-4147-A177-3AD203B41FA5}">
                      <a16:colId xmlns:a16="http://schemas.microsoft.com/office/drawing/2014/main" val="1557871679"/>
                    </a:ext>
                  </a:extLst>
                </a:gridCol>
                <a:gridCol w="9859441">
                  <a:extLst>
                    <a:ext uri="{9D8B030D-6E8A-4147-A177-3AD203B41FA5}">
                      <a16:colId xmlns:a16="http://schemas.microsoft.com/office/drawing/2014/main" val="26214540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Observation 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Insight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6339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dirty="0"/>
                        <a:t>Observation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- Non-smokers show </a:t>
                      </a:r>
                      <a:r>
                        <a:rPr lang="en-US" sz="1600" b="1" dirty="0"/>
                        <a:t>more balanced weight distribution</a:t>
                      </a:r>
                      <a:r>
                        <a:rPr lang="en-US" sz="1600" dirty="0"/>
                        <a:t>, with steady proportions across categories. 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- Smokers display </a:t>
                      </a:r>
                      <a:r>
                        <a:rPr lang="en-US" sz="1600" b="1" dirty="0"/>
                        <a:t>fewer overweight/obese</a:t>
                      </a:r>
                      <a:r>
                        <a:rPr lang="en-US" sz="1600" dirty="0"/>
                        <a:t> individuals but </a:t>
                      </a:r>
                      <a:r>
                        <a:rPr lang="en-US" sz="1600" b="1" dirty="0"/>
                        <a:t>more underweight cases</a:t>
                      </a:r>
                      <a:r>
                        <a:rPr lang="en-US" sz="1600" dirty="0"/>
                        <a:t>, consistent with smoking-related metabolic effects.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64160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dirty="0"/>
                        <a:t>Health Implication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- Smoking is correlated with </a:t>
                      </a:r>
                      <a:r>
                        <a:rPr lang="en-US" sz="1600" b="1" dirty="0"/>
                        <a:t>lower BMI values</a:t>
                      </a:r>
                      <a:r>
                        <a:rPr lang="en-US" sz="1600" dirty="0"/>
                        <a:t> — possibly due to nicotine’s appetite-suppressing effects. 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- However, </a:t>
                      </a:r>
                      <a:r>
                        <a:rPr lang="en-US" sz="1600" b="1" dirty="0"/>
                        <a:t>lower BMI doesn’t imply better health</a:t>
                      </a:r>
                      <a:r>
                        <a:rPr lang="en-US" sz="1600" dirty="0"/>
                        <a:t>; smoking still elevates risks for cardiovascular and metabolic diseases.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2313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76508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97C9D64-7E93-A7CC-17AB-11AED219B373}"/>
              </a:ext>
            </a:extLst>
          </p:cNvPr>
          <p:cNvSpPr txBox="1"/>
          <p:nvPr/>
        </p:nvSpPr>
        <p:spPr>
          <a:xfrm>
            <a:off x="1769807" y="373626"/>
            <a:ext cx="8082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Key Findings – Influence of Smoking on Health Indicators</a:t>
            </a:r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7696E5C-4AF3-424A-87E1-5B569B8471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5721793"/>
              </p:ext>
            </p:extLst>
          </p:nvPr>
        </p:nvGraphicFramePr>
        <p:xfrm>
          <a:off x="540773" y="1091380"/>
          <a:ext cx="11061292" cy="5392994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2765323">
                  <a:extLst>
                    <a:ext uri="{9D8B030D-6E8A-4147-A177-3AD203B41FA5}">
                      <a16:colId xmlns:a16="http://schemas.microsoft.com/office/drawing/2014/main" val="470836596"/>
                    </a:ext>
                  </a:extLst>
                </a:gridCol>
                <a:gridCol w="2765323">
                  <a:extLst>
                    <a:ext uri="{9D8B030D-6E8A-4147-A177-3AD203B41FA5}">
                      <a16:colId xmlns:a16="http://schemas.microsoft.com/office/drawing/2014/main" val="3972253425"/>
                    </a:ext>
                  </a:extLst>
                </a:gridCol>
                <a:gridCol w="2765323">
                  <a:extLst>
                    <a:ext uri="{9D8B030D-6E8A-4147-A177-3AD203B41FA5}">
                      <a16:colId xmlns:a16="http://schemas.microsoft.com/office/drawing/2014/main" val="4247607329"/>
                    </a:ext>
                  </a:extLst>
                </a:gridCol>
                <a:gridCol w="2765323">
                  <a:extLst>
                    <a:ext uri="{9D8B030D-6E8A-4147-A177-3AD203B41FA5}">
                      <a16:colId xmlns:a16="http://schemas.microsoft.com/office/drawing/2014/main" val="3624785948"/>
                    </a:ext>
                  </a:extLst>
                </a:gridCol>
              </a:tblGrid>
              <a:tr h="5807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/>
                        <a:t>Health Parameter</a:t>
                      </a:r>
                      <a:endParaRPr lang="en-IN" sz="1300" dirty="0"/>
                    </a:p>
                  </a:txBody>
                  <a:tcPr marL="66944" marR="66944" marT="33472" marB="334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/>
                        <a:t>Non-Smoking Group Observation</a:t>
                      </a:r>
                      <a:endParaRPr lang="en-IN" sz="1300" dirty="0"/>
                    </a:p>
                  </a:txBody>
                  <a:tcPr marL="66944" marR="66944" marT="33472" marB="334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/>
                        <a:t>Smoking Group Observation</a:t>
                      </a:r>
                      <a:endParaRPr lang="en-IN" sz="1300" dirty="0"/>
                    </a:p>
                  </a:txBody>
                  <a:tcPr marL="66944" marR="66944" marT="33472" marB="334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Key Finding / Insight</a:t>
                      </a:r>
                      <a:endParaRPr lang="en-IN" sz="1300"/>
                    </a:p>
                  </a:txBody>
                  <a:tcPr marL="66944" marR="66944" marT="33472" marB="33472" anchor="ctr"/>
                </a:tc>
                <a:extLst>
                  <a:ext uri="{0D108BD9-81ED-4DB2-BD59-A6C34878D82A}">
                    <a16:rowId xmlns:a16="http://schemas.microsoft.com/office/drawing/2014/main" val="1124326221"/>
                  </a:ext>
                </a:extLst>
              </a:tr>
              <a:tr h="10785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/>
                        <a:t>BMI (Body Mass Index)</a:t>
                      </a:r>
                      <a:endParaRPr lang="en-IN" sz="1300" dirty="0"/>
                    </a:p>
                  </a:txBody>
                  <a:tcPr marL="66944" marR="66944" marT="33472" marB="334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Balanced distribution: ~30% underweight, 20% overweight, 18% obese.</a:t>
                      </a:r>
                    </a:p>
                  </a:txBody>
                  <a:tcPr marL="66944" marR="66944" marT="33472" marB="334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More underweight individuals (~30%); fewer overweight/obese.</a:t>
                      </a:r>
                    </a:p>
                  </a:txBody>
                  <a:tcPr marL="66944" marR="66944" marT="33472" marB="334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Smoking correlates with </a:t>
                      </a:r>
                      <a:r>
                        <a:rPr lang="en-US" sz="1300" b="1"/>
                        <a:t>lower BMI</a:t>
                      </a:r>
                      <a:r>
                        <a:rPr lang="en-US" sz="1300"/>
                        <a:t>, likely due to appetite suppression from nicotine.</a:t>
                      </a:r>
                    </a:p>
                  </a:txBody>
                  <a:tcPr marL="66944" marR="66944" marT="33472" marB="33472" anchor="ctr"/>
                </a:tc>
                <a:extLst>
                  <a:ext uri="{0D108BD9-81ED-4DB2-BD59-A6C34878D82A}">
                    <a16:rowId xmlns:a16="http://schemas.microsoft.com/office/drawing/2014/main" val="1802852143"/>
                  </a:ext>
                </a:extLst>
              </a:tr>
              <a:tr h="13275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/>
                        <a:t>Blood Pressure</a:t>
                      </a:r>
                      <a:endParaRPr lang="en-IN" sz="1300" dirty="0"/>
                    </a:p>
                  </a:txBody>
                  <a:tcPr marL="66944" marR="66944" marT="33472" marB="334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35–40% show elevated or Stage 1 hypertension.</a:t>
                      </a:r>
                    </a:p>
                  </a:txBody>
                  <a:tcPr marL="66944" marR="66944" marT="33472" marB="334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45–50% show elevated BP or early hypertension.</a:t>
                      </a:r>
                    </a:p>
                  </a:txBody>
                  <a:tcPr marL="66944" marR="66944" marT="33472" marB="334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Smokers exhibit a </a:t>
                      </a:r>
                      <a:r>
                        <a:rPr lang="en-US" sz="1300" b="1"/>
                        <a:t>higher prevalence of hypertension</a:t>
                      </a:r>
                      <a:r>
                        <a:rPr lang="en-US" sz="1300"/>
                        <a:t>, indicating smoking’s effect on cardiovascular strain.</a:t>
                      </a:r>
                    </a:p>
                  </a:txBody>
                  <a:tcPr marL="66944" marR="66944" marT="33472" marB="33472" anchor="ctr"/>
                </a:tc>
                <a:extLst>
                  <a:ext uri="{0D108BD9-81ED-4DB2-BD59-A6C34878D82A}">
                    <a16:rowId xmlns:a16="http://schemas.microsoft.com/office/drawing/2014/main" val="79812013"/>
                  </a:ext>
                </a:extLst>
              </a:tr>
              <a:tr h="10785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/>
                        <a:t>Cholesterol</a:t>
                      </a:r>
                      <a:endParaRPr lang="en-IN" sz="1300" dirty="0"/>
                    </a:p>
                  </a:txBody>
                  <a:tcPr marL="66944" marR="66944" marT="33472" marB="334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~30–35% at-risk; ~10% dangerous.</a:t>
                      </a:r>
                    </a:p>
                  </a:txBody>
                  <a:tcPr marL="66944" marR="66944" marT="33472" marB="334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~35–40% at-risk; ~6–9% dangerous.</a:t>
                      </a:r>
                    </a:p>
                  </a:txBody>
                  <a:tcPr marL="66944" marR="66944" marT="33472" marB="334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Smokers have higher cholesterol</a:t>
                      </a:r>
                      <a:r>
                        <a:rPr lang="en-US" sz="1300"/>
                        <a:t> on average — risk for heart disease increases.</a:t>
                      </a:r>
                    </a:p>
                  </a:txBody>
                  <a:tcPr marL="66944" marR="66944" marT="33472" marB="33472" anchor="ctr"/>
                </a:tc>
                <a:extLst>
                  <a:ext uri="{0D108BD9-81ED-4DB2-BD59-A6C34878D82A}">
                    <a16:rowId xmlns:a16="http://schemas.microsoft.com/office/drawing/2014/main" val="751856023"/>
                  </a:ext>
                </a:extLst>
              </a:tr>
              <a:tr h="13275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/>
                        <a:t>Diabetes</a:t>
                      </a:r>
                      <a:endParaRPr lang="en-IN" sz="1300" dirty="0"/>
                    </a:p>
                  </a:txBody>
                  <a:tcPr marL="66944" marR="66944" marT="33472" marB="334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Diabetic count steady (~220–265 per age group).</a:t>
                      </a:r>
                    </a:p>
                  </a:txBody>
                  <a:tcPr marL="66944" marR="66944" marT="33472" marB="334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Slightly higher diabetic ratio (~48–79 per ~600 smokers).</a:t>
                      </a:r>
                    </a:p>
                  </a:txBody>
                  <a:tcPr marL="66944" marR="66944" marT="33472" marB="334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Smoking group shows a </a:t>
                      </a:r>
                      <a:r>
                        <a:rPr lang="en-US" sz="1300" b="1" dirty="0"/>
                        <a:t>greater proportion of diabetics</a:t>
                      </a:r>
                      <a:r>
                        <a:rPr lang="en-US" sz="1300" dirty="0"/>
                        <a:t>, suggesting impaired glucose metabolism.</a:t>
                      </a:r>
                    </a:p>
                  </a:txBody>
                  <a:tcPr marL="66944" marR="66944" marT="33472" marB="33472" anchor="ctr"/>
                </a:tc>
                <a:extLst>
                  <a:ext uri="{0D108BD9-81ED-4DB2-BD59-A6C34878D82A}">
                    <a16:rowId xmlns:a16="http://schemas.microsoft.com/office/drawing/2014/main" val="7305041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30189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16526D-8700-5DC0-AE2A-21EDA4251C2F}"/>
              </a:ext>
            </a:extLst>
          </p:cNvPr>
          <p:cNvSpPr txBox="1"/>
          <p:nvPr/>
        </p:nvSpPr>
        <p:spPr>
          <a:xfrm>
            <a:off x="4178710" y="108155"/>
            <a:ext cx="457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Conclusion and Recommendations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3EDFDF-4FC9-6125-D41D-D058670B0581}"/>
              </a:ext>
            </a:extLst>
          </p:cNvPr>
          <p:cNvSpPr txBox="1"/>
          <p:nvPr/>
        </p:nvSpPr>
        <p:spPr>
          <a:xfrm>
            <a:off x="555522" y="726849"/>
            <a:ext cx="1108095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Conclusion: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analysis of adult health data reveals that </a:t>
            </a:r>
            <a:r>
              <a:rPr lang="en-US" b="1" dirty="0"/>
              <a:t>smoking has a significant negative influence</a:t>
            </a:r>
            <a:r>
              <a:rPr lang="en-US" dirty="0"/>
              <a:t> on several vital health parameters.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Although smokers tend to have </a:t>
            </a:r>
            <a:r>
              <a:rPr lang="en-US" b="1" dirty="0"/>
              <a:t>lower BMI</a:t>
            </a:r>
            <a:r>
              <a:rPr lang="en-US" dirty="0"/>
              <a:t>, this does not indicate better health — instead, they show </a:t>
            </a:r>
            <a:r>
              <a:rPr lang="en-US" b="1" dirty="0"/>
              <a:t>higher risks of hypertension, elevated cholesterol, and diabetes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Non-smokers</a:t>
            </a:r>
            <a:r>
              <a:rPr lang="en-US" dirty="0"/>
              <a:t>, by contrast, maintain a more balanced health profile across BMI, blood pressure, and cholesterol categories.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Across all age groups (18–34), the data consistently demonstrates that </a:t>
            </a:r>
            <a:r>
              <a:rPr lang="en-US" b="1" dirty="0"/>
              <a:t>smoking correlates with metabolic and cardiovascular imbalances</a:t>
            </a:r>
            <a:r>
              <a:rPr lang="en-US" dirty="0"/>
              <a:t>, suggesting long-term health risks even in young adults.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findings validate that </a:t>
            </a:r>
            <a:r>
              <a:rPr lang="en-US" b="1" dirty="0"/>
              <a:t>smoking’s impact is systemic</a:t>
            </a:r>
            <a:r>
              <a:rPr lang="en-US" dirty="0"/>
              <a:t> — affecting the heart, metabolism, and endocrine function — rather than limited to respiratory health alone.</a:t>
            </a:r>
          </a:p>
        </p:txBody>
      </p:sp>
    </p:spTree>
    <p:extLst>
      <p:ext uri="{BB962C8B-B14F-4D97-AF65-F5344CB8AC3E}">
        <p14:creationId xmlns:p14="http://schemas.microsoft.com/office/powerpoint/2010/main" val="22025375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24A531-FDE7-98E3-66F4-39C77E8B2546}"/>
              </a:ext>
            </a:extLst>
          </p:cNvPr>
          <p:cNvSpPr txBox="1"/>
          <p:nvPr/>
        </p:nvSpPr>
        <p:spPr>
          <a:xfrm>
            <a:off x="245807" y="341696"/>
            <a:ext cx="11680722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Recommendations:</a:t>
            </a:r>
          </a:p>
          <a:p>
            <a:pPr>
              <a:buNone/>
            </a:pPr>
            <a:endParaRPr lang="en-US" b="1" dirty="0"/>
          </a:p>
          <a:p>
            <a:pPr>
              <a:buFont typeface="+mj-lt"/>
              <a:buAutoNum type="arabicPeriod"/>
            </a:pPr>
            <a:r>
              <a:rPr lang="en-US" dirty="0"/>
              <a:t> </a:t>
            </a:r>
            <a:r>
              <a:rPr lang="en-US" b="1" dirty="0"/>
              <a:t>Smoking Cessation Programs:</a:t>
            </a:r>
          </a:p>
          <a:p>
            <a:pPr>
              <a:buFont typeface="+mj-lt"/>
              <a:buAutoNum type="arabicPeriod"/>
            </a:pPr>
            <a:endParaRPr lang="en-US" b="1" dirty="0"/>
          </a:p>
          <a:p>
            <a:r>
              <a:rPr lang="en-US" dirty="0"/>
              <a:t>Encourage young adults to quit smoking through counseling and awareness programs focused on long-term cardiovascular and metabolic effects.</a:t>
            </a:r>
          </a:p>
          <a:p>
            <a:endParaRPr lang="en-US" dirty="0"/>
          </a:p>
          <a:p>
            <a:r>
              <a:rPr lang="en-US" dirty="0"/>
              <a:t>2. </a:t>
            </a:r>
            <a:r>
              <a:rPr lang="en-US" b="1" dirty="0"/>
              <a:t>Regular Health Screenings:</a:t>
            </a:r>
          </a:p>
          <a:p>
            <a:endParaRPr lang="en-US" b="1" dirty="0"/>
          </a:p>
          <a:p>
            <a:r>
              <a:rPr lang="en-US" dirty="0"/>
              <a:t>Implement periodic monitoring of </a:t>
            </a:r>
            <a:r>
              <a:rPr lang="en-US" b="1" dirty="0"/>
              <a:t>blood pressure, cholesterol, and glucose levels</a:t>
            </a:r>
            <a:r>
              <a:rPr lang="en-US" dirty="0"/>
              <a:t> for early detection and management of health risks in both smokers and non-smokers.</a:t>
            </a:r>
          </a:p>
          <a:p>
            <a:endParaRPr lang="en-US" dirty="0"/>
          </a:p>
          <a:p>
            <a:r>
              <a:rPr lang="en-US" b="1" dirty="0"/>
              <a:t>3. Lifestyle Modifications:</a:t>
            </a:r>
          </a:p>
          <a:p>
            <a:endParaRPr lang="en-US" b="1" dirty="0"/>
          </a:p>
          <a:p>
            <a:r>
              <a:rPr lang="en-US" dirty="0"/>
              <a:t>Promote </a:t>
            </a:r>
            <a:r>
              <a:rPr lang="en-US" b="1" dirty="0"/>
              <a:t>balanced diets, physical activity, and stress reduction</a:t>
            </a:r>
            <a:r>
              <a:rPr lang="en-US" dirty="0"/>
              <a:t> to maintain healthy BMI and reduce cholesterol accumulation.</a:t>
            </a:r>
          </a:p>
          <a:p>
            <a:endParaRPr lang="en-US" dirty="0"/>
          </a:p>
          <a:p>
            <a:r>
              <a:rPr lang="en-US" dirty="0"/>
              <a:t>4. </a:t>
            </a:r>
            <a:r>
              <a:rPr lang="en-US" b="1" dirty="0"/>
              <a:t>Data-Driven Health Awareness:</a:t>
            </a:r>
          </a:p>
          <a:p>
            <a:endParaRPr lang="en-US" b="1" dirty="0"/>
          </a:p>
          <a:p>
            <a:r>
              <a:rPr lang="en-US" dirty="0"/>
              <a:t>Use analytical studies like this to highlight </a:t>
            </a:r>
            <a:r>
              <a:rPr lang="en-US" b="1" dirty="0"/>
              <a:t>quantitative evidence</a:t>
            </a:r>
            <a:r>
              <a:rPr lang="en-US" dirty="0"/>
              <a:t> of smoking’s impact, making prevention campaigns more persuasive</a:t>
            </a:r>
          </a:p>
        </p:txBody>
      </p:sp>
    </p:spTree>
    <p:extLst>
      <p:ext uri="{BB962C8B-B14F-4D97-AF65-F5344CB8AC3E}">
        <p14:creationId xmlns:p14="http://schemas.microsoft.com/office/powerpoint/2010/main" val="10241161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464CD9-94AD-417D-BECB-3AC8F24CD5EB}"/>
              </a:ext>
            </a:extLst>
          </p:cNvPr>
          <p:cNvSpPr txBox="1"/>
          <p:nvPr/>
        </p:nvSpPr>
        <p:spPr>
          <a:xfrm>
            <a:off x="1307690" y="796413"/>
            <a:ext cx="71873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200" dirty="0"/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86B972-9BCE-31C3-F788-EDD8C936C883}"/>
              </a:ext>
            </a:extLst>
          </p:cNvPr>
          <p:cNvSpPr txBox="1"/>
          <p:nvPr/>
        </p:nvSpPr>
        <p:spPr>
          <a:xfrm>
            <a:off x="8937522" y="5338917"/>
            <a:ext cx="1622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PRASIN K M</a:t>
            </a:r>
          </a:p>
        </p:txBody>
      </p:sp>
    </p:spTree>
    <p:extLst>
      <p:ext uri="{BB962C8B-B14F-4D97-AF65-F5344CB8AC3E}">
        <p14:creationId xmlns:p14="http://schemas.microsoft.com/office/powerpoint/2010/main" val="6096891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714</TotalTime>
  <Words>1231</Words>
  <Application>Microsoft Office PowerPoint</Application>
  <PresentationFormat>Widescreen</PresentationFormat>
  <Paragraphs>143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Century Gothic</vt:lpstr>
      <vt:lpstr>Wingdings 3</vt:lpstr>
      <vt:lpstr>Ion</vt:lpstr>
      <vt:lpstr>A Data-Driven Analysis of Adult Health Parameters and the Impact of Smoking</vt:lpstr>
      <vt:lpstr>Why this study matters</vt:lpstr>
      <vt:lpstr>Objective: </vt:lpstr>
      <vt:lpstr>Dataset Description: </vt:lpstr>
      <vt:lpstr>Data Preparation Steps: </vt:lpstr>
      <vt:lpstr>Comparison with Standard Adult Ranges: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PRASIN K M</dc:creator>
  <cp:lastModifiedBy>PRASIN K M</cp:lastModifiedBy>
  <cp:revision>5</cp:revision>
  <dcterms:created xsi:type="dcterms:W3CDTF">2025-11-03T17:04:24Z</dcterms:created>
  <dcterms:modified xsi:type="dcterms:W3CDTF">2026-01-03T07:44:04Z</dcterms:modified>
</cp:coreProperties>
</file>